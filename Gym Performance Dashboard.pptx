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58" r:id="rId5"/>
    <p:sldId id="261" r:id="rId6"/>
    <p:sldId id="259"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1/31/2026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1/31/2026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1/31/2026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1/31/2026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CDA01-F23B-B03F-D148-3D9AB4BF2B15}"/>
              </a:ext>
            </a:extLst>
          </p:cNvPr>
          <p:cNvSpPr>
            <a:spLocks noGrp="1"/>
          </p:cNvSpPr>
          <p:nvPr>
            <p:ph type="ctrTitle"/>
          </p:nvPr>
        </p:nvSpPr>
        <p:spPr/>
        <p:txBody>
          <a:bodyPr/>
          <a:lstStyle/>
          <a:p>
            <a:r>
              <a:rPr lang="en-IN" dirty="0"/>
              <a:t>Gym Performance Dashboard</a:t>
            </a:r>
          </a:p>
        </p:txBody>
      </p:sp>
      <p:sp>
        <p:nvSpPr>
          <p:cNvPr id="3" name="Subtitle 2">
            <a:extLst>
              <a:ext uri="{FF2B5EF4-FFF2-40B4-BE49-F238E27FC236}">
                <a16:creationId xmlns:a16="http://schemas.microsoft.com/office/drawing/2014/main" id="{A7A287DB-2DD5-8A6A-C2DA-5EC885906BCA}"/>
              </a:ext>
            </a:extLst>
          </p:cNvPr>
          <p:cNvSpPr>
            <a:spLocks noGrp="1"/>
          </p:cNvSpPr>
          <p:nvPr>
            <p:ph type="subTitle" idx="1"/>
          </p:nvPr>
        </p:nvSpPr>
        <p:spPr/>
        <p:txBody>
          <a:bodyPr/>
          <a:lstStyle/>
          <a:p>
            <a:r>
              <a:rPr lang="en-IN" b="1" dirty="0"/>
              <a:t>Created by:</a:t>
            </a:r>
            <a:r>
              <a:rPr lang="en-IN" dirty="0"/>
              <a:t> Sejal Mourya</a:t>
            </a:r>
          </a:p>
        </p:txBody>
      </p:sp>
    </p:spTree>
    <p:extLst>
      <p:ext uri="{BB962C8B-B14F-4D97-AF65-F5344CB8AC3E}">
        <p14:creationId xmlns:p14="http://schemas.microsoft.com/office/powerpoint/2010/main" val="2066776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5F018-9F31-B144-81FD-4FCD23549B7F}"/>
              </a:ext>
            </a:extLst>
          </p:cNvPr>
          <p:cNvSpPr>
            <a:spLocks noGrp="1"/>
          </p:cNvSpPr>
          <p:nvPr>
            <p:ph type="title"/>
          </p:nvPr>
        </p:nvSpPr>
        <p:spPr/>
        <p:txBody>
          <a:bodyPr/>
          <a:lstStyle/>
          <a:p>
            <a:r>
              <a:rPr lang="en-IN" b="1" dirty="0"/>
              <a:t>Project Overview</a:t>
            </a:r>
          </a:p>
        </p:txBody>
      </p:sp>
      <p:sp>
        <p:nvSpPr>
          <p:cNvPr id="3" name="Content Placeholder 2">
            <a:extLst>
              <a:ext uri="{FF2B5EF4-FFF2-40B4-BE49-F238E27FC236}">
                <a16:creationId xmlns:a16="http://schemas.microsoft.com/office/drawing/2014/main" id="{2EB116CD-474C-9C58-DE11-88C08269E52C}"/>
              </a:ext>
            </a:extLst>
          </p:cNvPr>
          <p:cNvSpPr>
            <a:spLocks noGrp="1"/>
          </p:cNvSpPr>
          <p:nvPr>
            <p:ph idx="1"/>
          </p:nvPr>
        </p:nvSpPr>
        <p:spPr/>
        <p:txBody>
          <a:bodyPr/>
          <a:lstStyle/>
          <a:p>
            <a:pPr>
              <a:buFont typeface="Wingdings" panose="05000000000000000000" pitchFamily="2" charset="2"/>
              <a:buChar char="Ø"/>
            </a:pPr>
            <a:r>
              <a:rPr lang="en-US" dirty="0"/>
              <a:t>The objective of this project is to analyze gym performance data and create an interactive dashboard that provides insights into:</a:t>
            </a:r>
          </a:p>
          <a:p>
            <a:pPr marL="0" indent="0">
              <a:buNone/>
            </a:pPr>
            <a:r>
              <a:rPr lang="en-US" dirty="0"/>
              <a:t>      Member attendance trends</a:t>
            </a:r>
          </a:p>
          <a:p>
            <a:pPr marL="0" indent="0">
              <a:buNone/>
            </a:pPr>
            <a:r>
              <a:rPr lang="en-US" dirty="0"/>
              <a:t>      Workout preferences</a:t>
            </a:r>
          </a:p>
          <a:p>
            <a:pPr marL="0" indent="0">
              <a:buNone/>
            </a:pPr>
            <a:r>
              <a:rPr lang="en-US" dirty="0"/>
              <a:t>      Demographic behavior</a:t>
            </a:r>
          </a:p>
          <a:p>
            <a:pPr marL="0" indent="0">
              <a:buNone/>
            </a:pPr>
            <a:r>
              <a:rPr lang="en-US" dirty="0"/>
              <a:t>      Membership type distribution</a:t>
            </a:r>
          </a:p>
          <a:p>
            <a:pPr marL="0" indent="0">
              <a:buNone/>
            </a:pPr>
            <a:r>
              <a:rPr lang="en-US" dirty="0"/>
              <a:t>This dashboard helps in understanding overall gym engagement and supports data-driven decision-making.</a:t>
            </a:r>
          </a:p>
          <a:p>
            <a:endParaRPr lang="en-IN" dirty="0"/>
          </a:p>
        </p:txBody>
      </p:sp>
    </p:spTree>
    <p:extLst>
      <p:ext uri="{BB962C8B-B14F-4D97-AF65-F5344CB8AC3E}">
        <p14:creationId xmlns:p14="http://schemas.microsoft.com/office/powerpoint/2010/main" val="403862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62FB-370C-1F5C-B8E6-FC3CC9D7B294}"/>
              </a:ext>
            </a:extLst>
          </p:cNvPr>
          <p:cNvSpPr>
            <a:spLocks noGrp="1"/>
          </p:cNvSpPr>
          <p:nvPr>
            <p:ph type="title"/>
          </p:nvPr>
        </p:nvSpPr>
        <p:spPr/>
        <p:txBody>
          <a:bodyPr/>
          <a:lstStyle/>
          <a:p>
            <a:r>
              <a:rPr lang="en-IN" b="1" dirty="0"/>
              <a:t>Tools &amp; Techniques</a:t>
            </a:r>
            <a:br>
              <a:rPr lang="en-IN" b="1" dirty="0"/>
            </a:br>
            <a:endParaRPr lang="en-IN" dirty="0"/>
          </a:p>
        </p:txBody>
      </p:sp>
      <p:sp>
        <p:nvSpPr>
          <p:cNvPr id="3" name="Content Placeholder 2">
            <a:extLst>
              <a:ext uri="{FF2B5EF4-FFF2-40B4-BE49-F238E27FC236}">
                <a16:creationId xmlns:a16="http://schemas.microsoft.com/office/drawing/2014/main" id="{DA879BF0-CBEF-2DDB-9D34-B3142A0F6CF9}"/>
              </a:ext>
            </a:extLst>
          </p:cNvPr>
          <p:cNvSpPr>
            <a:spLocks noGrp="1"/>
          </p:cNvSpPr>
          <p:nvPr>
            <p:ph idx="1"/>
          </p:nvPr>
        </p:nvSpPr>
        <p:spPr>
          <a:xfrm>
            <a:off x="1219200" y="1693003"/>
            <a:ext cx="9753600" cy="5164997"/>
          </a:xfrm>
        </p:spPr>
        <p:txBody>
          <a:bodyPr>
            <a:normAutofit/>
          </a:bodyPr>
          <a:lstStyle/>
          <a:p>
            <a:pPr marL="0" indent="0">
              <a:buNone/>
            </a:pPr>
            <a:r>
              <a:rPr lang="en-US" b="1" dirty="0"/>
              <a:t>Tools Used:</a:t>
            </a:r>
            <a:endParaRPr lang="en-US" dirty="0"/>
          </a:p>
          <a:p>
            <a:pPr>
              <a:buFont typeface="Arial" panose="020B0604020202020204" pitchFamily="34" charset="0"/>
              <a:buChar char="•"/>
            </a:pPr>
            <a:r>
              <a:rPr lang="en-US" dirty="0"/>
              <a:t>Tableau Public – for interactive dashboard creation and data visualization</a:t>
            </a:r>
          </a:p>
          <a:p>
            <a:pPr>
              <a:buFont typeface="Arial" panose="020B0604020202020204" pitchFamily="34" charset="0"/>
              <a:buChar char="•"/>
            </a:pPr>
            <a:r>
              <a:rPr lang="en-US" dirty="0"/>
              <a:t>Microsoft Excel – for data cleaning and basic preprocessing</a:t>
            </a:r>
          </a:p>
          <a:p>
            <a:pPr>
              <a:buFont typeface="Arial" panose="020B0604020202020204" pitchFamily="34" charset="0"/>
              <a:buChar char="•"/>
            </a:pPr>
            <a:endParaRPr lang="en-US" dirty="0"/>
          </a:p>
          <a:p>
            <a:pPr marL="0" indent="0">
              <a:buNone/>
            </a:pPr>
            <a:r>
              <a:rPr lang="en-US" b="1" dirty="0"/>
              <a:t>Techniques Applied:</a:t>
            </a:r>
            <a:endParaRPr lang="en-US" dirty="0"/>
          </a:p>
          <a:p>
            <a:pPr>
              <a:buFont typeface="Arial" panose="020B0604020202020204" pitchFamily="34" charset="0"/>
              <a:buChar char="•"/>
            </a:pPr>
            <a:r>
              <a:rPr lang="en-US" dirty="0"/>
              <a:t>Data cleaning and transformation</a:t>
            </a:r>
          </a:p>
          <a:p>
            <a:pPr>
              <a:buFont typeface="Arial" panose="020B0604020202020204" pitchFamily="34" charset="0"/>
              <a:buChar char="•"/>
            </a:pPr>
            <a:r>
              <a:rPr lang="en-US" dirty="0" err="1"/>
              <a:t>KPI</a:t>
            </a:r>
            <a:r>
              <a:rPr lang="en-US" dirty="0"/>
              <a:t> creation using calculated fields</a:t>
            </a:r>
          </a:p>
          <a:p>
            <a:pPr>
              <a:buFont typeface="Arial" panose="020B0604020202020204" pitchFamily="34" charset="0"/>
              <a:buChar char="•"/>
            </a:pPr>
            <a:r>
              <a:rPr lang="en-US" dirty="0"/>
              <a:t>Use of filters for interactive data exploration</a:t>
            </a:r>
          </a:p>
          <a:p>
            <a:pPr>
              <a:buFont typeface="Arial" panose="020B0604020202020204" pitchFamily="34" charset="0"/>
              <a:buChar char="•"/>
            </a:pPr>
            <a:r>
              <a:rPr lang="en-US" dirty="0"/>
              <a:t>Dashboard layout design and data storytelling</a:t>
            </a:r>
          </a:p>
          <a:p>
            <a:endParaRPr lang="en-IN" dirty="0"/>
          </a:p>
        </p:txBody>
      </p:sp>
    </p:spTree>
    <p:extLst>
      <p:ext uri="{BB962C8B-B14F-4D97-AF65-F5344CB8AC3E}">
        <p14:creationId xmlns:p14="http://schemas.microsoft.com/office/powerpoint/2010/main" val="3345220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47CB8-1B96-F8F9-6DBF-5EE06FB99D67}"/>
              </a:ext>
            </a:extLst>
          </p:cNvPr>
          <p:cNvSpPr>
            <a:spLocks noGrp="1"/>
          </p:cNvSpPr>
          <p:nvPr>
            <p:ph type="title"/>
          </p:nvPr>
        </p:nvSpPr>
        <p:spPr/>
        <p:txBody>
          <a:bodyPr/>
          <a:lstStyle/>
          <a:p>
            <a:r>
              <a:rPr lang="en-IN" b="1" dirty="0"/>
              <a:t>Dataset Description</a:t>
            </a:r>
          </a:p>
        </p:txBody>
      </p:sp>
      <p:sp>
        <p:nvSpPr>
          <p:cNvPr id="3" name="Content Placeholder 2">
            <a:extLst>
              <a:ext uri="{FF2B5EF4-FFF2-40B4-BE49-F238E27FC236}">
                <a16:creationId xmlns:a16="http://schemas.microsoft.com/office/drawing/2014/main" id="{BD7FF35C-19DB-42BB-4A34-1FED24F65FAB}"/>
              </a:ext>
            </a:extLst>
          </p:cNvPr>
          <p:cNvSpPr>
            <a:spLocks noGrp="1"/>
          </p:cNvSpPr>
          <p:nvPr>
            <p:ph idx="1"/>
          </p:nvPr>
        </p:nvSpPr>
        <p:spPr/>
        <p:txBody>
          <a:bodyPr>
            <a:normAutofit fontScale="92500" lnSpcReduction="20000"/>
          </a:bodyPr>
          <a:lstStyle/>
          <a:p>
            <a:pPr marL="0" indent="0">
              <a:buNone/>
            </a:pPr>
            <a:r>
              <a:rPr lang="en-US" dirty="0"/>
              <a:t>The dataset includes:</a:t>
            </a:r>
          </a:p>
          <a:p>
            <a:pPr>
              <a:buFont typeface="Arial" panose="020B0604020202020204" pitchFamily="34" charset="0"/>
              <a:buChar char="•"/>
            </a:pPr>
            <a:r>
              <a:rPr lang="en-US" dirty="0"/>
              <a:t>Member Gender</a:t>
            </a:r>
          </a:p>
          <a:p>
            <a:pPr>
              <a:buFont typeface="Arial" panose="020B0604020202020204" pitchFamily="34" charset="0"/>
              <a:buChar char="•"/>
            </a:pPr>
            <a:r>
              <a:rPr lang="en-US" dirty="0"/>
              <a:t>Age Group</a:t>
            </a:r>
          </a:p>
          <a:p>
            <a:pPr>
              <a:buFont typeface="Arial" panose="020B0604020202020204" pitchFamily="34" charset="0"/>
              <a:buChar char="•"/>
            </a:pPr>
            <a:r>
              <a:rPr lang="en-US" dirty="0"/>
              <a:t>Workout Type</a:t>
            </a:r>
          </a:p>
          <a:p>
            <a:pPr>
              <a:buFont typeface="Arial" panose="020B0604020202020204" pitchFamily="34" charset="0"/>
              <a:buChar char="•"/>
            </a:pPr>
            <a:r>
              <a:rPr lang="en-US" dirty="0"/>
              <a:t>Membership Type</a:t>
            </a:r>
          </a:p>
          <a:p>
            <a:pPr>
              <a:buFont typeface="Arial" panose="020B0604020202020204" pitchFamily="34" charset="0"/>
              <a:buChar char="•"/>
            </a:pPr>
            <a:r>
              <a:rPr lang="en-US" dirty="0"/>
              <a:t>Calories Burned</a:t>
            </a:r>
          </a:p>
          <a:p>
            <a:pPr>
              <a:buFont typeface="Arial" panose="020B0604020202020204" pitchFamily="34" charset="0"/>
              <a:buChar char="•"/>
            </a:pPr>
            <a:r>
              <a:rPr lang="en-US" dirty="0"/>
              <a:t>Workout Duration</a:t>
            </a:r>
          </a:p>
          <a:p>
            <a:pPr>
              <a:buFont typeface="Arial" panose="020B0604020202020204" pitchFamily="34" charset="0"/>
              <a:buChar char="•"/>
            </a:pPr>
            <a:r>
              <a:rPr lang="en-US" dirty="0"/>
              <a:t>Visit Date / Month</a:t>
            </a:r>
          </a:p>
          <a:p>
            <a:pPr marL="0" indent="0">
              <a:buNone/>
            </a:pPr>
            <a:r>
              <a:rPr lang="en-US" dirty="0"/>
              <a:t>The data was cleaned and transformed to ensure accuracy and consistency before visualization.</a:t>
            </a:r>
          </a:p>
          <a:p>
            <a:endParaRPr lang="en-IN" dirty="0"/>
          </a:p>
        </p:txBody>
      </p:sp>
    </p:spTree>
    <p:extLst>
      <p:ext uri="{BB962C8B-B14F-4D97-AF65-F5344CB8AC3E}">
        <p14:creationId xmlns:p14="http://schemas.microsoft.com/office/powerpoint/2010/main" val="172608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1E9-0841-34A1-8403-0822287B8C3B}"/>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95B482E4-7702-066E-7623-C5DF6396EEB6}"/>
              </a:ext>
            </a:extLst>
          </p:cNvPr>
          <p:cNvSpPr>
            <a:spLocks noGrp="1"/>
          </p:cNvSpPr>
          <p:nvPr>
            <p:ph idx="1"/>
          </p:nvPr>
        </p:nvSpPr>
        <p:spPr/>
        <p:txBody>
          <a:bodyPr/>
          <a:lstStyle/>
          <a:p>
            <a:r>
              <a:rPr lang="en-US" dirty="0"/>
              <a:t>Fitness centers collect large volumes of data related to member visits, workout activities, demographics, and memberships. However, this data is often scattered and difficult to analyze, making it challenging for gym owners and managers to gain clear insights.</a:t>
            </a:r>
          </a:p>
          <a:p>
            <a:r>
              <a:rPr lang="en-US" dirty="0"/>
              <a:t>The objective of this project is to transform raw gym data into an interactive and visually intuitive dashboard using Tableau Public, enabling stakeholders to track gym performance, understand member behavior, identify workout trends, and support data-driven decision-making.</a:t>
            </a:r>
          </a:p>
          <a:p>
            <a:endParaRPr lang="en-IN" dirty="0"/>
          </a:p>
        </p:txBody>
      </p:sp>
    </p:spTree>
    <p:extLst>
      <p:ext uri="{BB962C8B-B14F-4D97-AF65-F5344CB8AC3E}">
        <p14:creationId xmlns:p14="http://schemas.microsoft.com/office/powerpoint/2010/main" val="2291063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24CE9-7BA1-3108-4C1C-2F4A817D3004}"/>
              </a:ext>
            </a:extLst>
          </p:cNvPr>
          <p:cNvSpPr>
            <a:spLocks noGrp="1"/>
          </p:cNvSpPr>
          <p:nvPr>
            <p:ph type="title"/>
          </p:nvPr>
        </p:nvSpPr>
        <p:spPr/>
        <p:txBody>
          <a:bodyPr/>
          <a:lstStyle/>
          <a:p>
            <a:r>
              <a:rPr lang="en-US" b="1" dirty="0"/>
              <a:t>Dashboard</a:t>
            </a:r>
            <a:endParaRPr lang="en-IN" b="1" dirty="0"/>
          </a:p>
        </p:txBody>
      </p:sp>
      <p:pic>
        <p:nvPicPr>
          <p:cNvPr id="5" name="Content Placeholder 4">
            <a:extLst>
              <a:ext uri="{FF2B5EF4-FFF2-40B4-BE49-F238E27FC236}">
                <a16:creationId xmlns:a16="http://schemas.microsoft.com/office/drawing/2014/main" id="{14DF08C3-F542-AD66-981E-81F9141DE7CD}"/>
              </a:ext>
            </a:extLst>
          </p:cNvPr>
          <p:cNvPicPr>
            <a:picLocks noGrp="1" noChangeAspect="1"/>
          </p:cNvPicPr>
          <p:nvPr>
            <p:ph idx="1"/>
          </p:nvPr>
        </p:nvPicPr>
        <p:blipFill>
          <a:blip r:embed="rId2"/>
          <a:stretch>
            <a:fillRect/>
          </a:stretch>
        </p:blipFill>
        <p:spPr>
          <a:xfrm>
            <a:off x="1289968" y="1489046"/>
            <a:ext cx="10613400" cy="5012422"/>
          </a:xfrm>
        </p:spPr>
      </p:pic>
    </p:spTree>
    <p:extLst>
      <p:ext uri="{BB962C8B-B14F-4D97-AF65-F5344CB8AC3E}">
        <p14:creationId xmlns:p14="http://schemas.microsoft.com/office/powerpoint/2010/main" val="1722304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6BA9-52EF-D467-C3EF-E00258932E0A}"/>
              </a:ext>
            </a:extLst>
          </p:cNvPr>
          <p:cNvSpPr>
            <a:spLocks noGrp="1"/>
          </p:cNvSpPr>
          <p:nvPr>
            <p:ph type="title"/>
          </p:nvPr>
        </p:nvSpPr>
        <p:spPr/>
        <p:txBody>
          <a:bodyPr/>
          <a:lstStyle/>
          <a:p>
            <a:r>
              <a:rPr lang="en-US" b="1" dirty="0"/>
              <a:t>Using Filter</a:t>
            </a:r>
            <a:endParaRPr lang="en-IN" b="1" dirty="0"/>
          </a:p>
        </p:txBody>
      </p:sp>
      <p:pic>
        <p:nvPicPr>
          <p:cNvPr id="11" name="Content Placeholder 10">
            <a:extLst>
              <a:ext uri="{FF2B5EF4-FFF2-40B4-BE49-F238E27FC236}">
                <a16:creationId xmlns:a16="http://schemas.microsoft.com/office/drawing/2014/main" id="{E11D52E9-2C06-7EBA-8CC0-5F9B312143E2}"/>
              </a:ext>
            </a:extLst>
          </p:cNvPr>
          <p:cNvPicPr>
            <a:picLocks noGrp="1" noChangeAspect="1"/>
          </p:cNvPicPr>
          <p:nvPr>
            <p:ph idx="1"/>
          </p:nvPr>
        </p:nvPicPr>
        <p:blipFill>
          <a:blip r:embed="rId2"/>
          <a:stretch>
            <a:fillRect/>
          </a:stretch>
        </p:blipFill>
        <p:spPr>
          <a:xfrm>
            <a:off x="1474911" y="1428750"/>
            <a:ext cx="9858615" cy="5156608"/>
          </a:xfrm>
        </p:spPr>
      </p:pic>
    </p:spTree>
    <p:extLst>
      <p:ext uri="{BB962C8B-B14F-4D97-AF65-F5344CB8AC3E}">
        <p14:creationId xmlns:p14="http://schemas.microsoft.com/office/powerpoint/2010/main" val="11711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F76E1-DF55-7374-1CD0-C5D71A7161C4}"/>
              </a:ext>
            </a:extLst>
          </p:cNvPr>
          <p:cNvSpPr>
            <a:spLocks noGrp="1"/>
          </p:cNvSpPr>
          <p:nvPr>
            <p:ph type="title"/>
          </p:nvPr>
        </p:nvSpPr>
        <p:spPr/>
        <p:txBody>
          <a:bodyPr/>
          <a:lstStyle/>
          <a:p>
            <a:r>
              <a:rPr lang="en-IN" b="1" dirty="0"/>
              <a:t>Future Scope</a:t>
            </a:r>
          </a:p>
        </p:txBody>
      </p:sp>
      <p:sp>
        <p:nvSpPr>
          <p:cNvPr id="3" name="Content Placeholder 2">
            <a:extLst>
              <a:ext uri="{FF2B5EF4-FFF2-40B4-BE49-F238E27FC236}">
                <a16:creationId xmlns:a16="http://schemas.microsoft.com/office/drawing/2014/main" id="{4389B328-F5EF-1C41-9B30-4F1E45162E22}"/>
              </a:ext>
            </a:extLst>
          </p:cNvPr>
          <p:cNvSpPr>
            <a:spLocks noGrp="1"/>
          </p:cNvSpPr>
          <p:nvPr>
            <p:ph idx="1"/>
          </p:nvPr>
        </p:nvSpPr>
        <p:spPr/>
        <p:txBody>
          <a:bodyPr/>
          <a:lstStyle/>
          <a:p>
            <a:pPr>
              <a:buFont typeface="Wingdings" panose="05000000000000000000" pitchFamily="2" charset="2"/>
              <a:buChar char="Ø"/>
            </a:pPr>
            <a:r>
              <a:rPr lang="en-US" dirty="0"/>
              <a:t>Integrate real-time or live gym data for continuous performance monitoring</a:t>
            </a:r>
          </a:p>
          <a:p>
            <a:pPr>
              <a:buFont typeface="Wingdings" panose="05000000000000000000" pitchFamily="2" charset="2"/>
              <a:buChar char="Ø"/>
            </a:pPr>
            <a:r>
              <a:rPr lang="en-US" dirty="0"/>
              <a:t>Add revenue and membership renewal analysis for better business insights</a:t>
            </a:r>
          </a:p>
          <a:p>
            <a:pPr>
              <a:buFont typeface="Wingdings" panose="05000000000000000000" pitchFamily="2" charset="2"/>
              <a:buChar char="Ø"/>
            </a:pPr>
            <a:r>
              <a:rPr lang="en-US" dirty="0"/>
              <a:t>Include customer retention and churn analysis</a:t>
            </a:r>
          </a:p>
          <a:p>
            <a:pPr>
              <a:buFont typeface="Wingdings" panose="05000000000000000000" pitchFamily="2" charset="2"/>
              <a:buChar char="Ø"/>
            </a:pPr>
            <a:r>
              <a:rPr lang="en-US" dirty="0"/>
              <a:t>Track trainer performance and class-wise attendance</a:t>
            </a:r>
          </a:p>
          <a:p>
            <a:pPr>
              <a:buFont typeface="Wingdings" panose="05000000000000000000" pitchFamily="2" charset="2"/>
              <a:buChar char="Ø"/>
            </a:pPr>
            <a:r>
              <a:rPr lang="en-US" dirty="0"/>
              <a:t>Enhance dashboard using advanced parameters and drill-down features</a:t>
            </a:r>
          </a:p>
          <a:p>
            <a:pPr>
              <a:buFont typeface="Wingdings" panose="05000000000000000000" pitchFamily="2" charset="2"/>
              <a:buChar char="Ø"/>
            </a:pPr>
            <a:r>
              <a:rPr lang="en-US" dirty="0"/>
              <a:t>Expand analysis by comparing multiple gym branches</a:t>
            </a:r>
          </a:p>
          <a:p>
            <a:pPr>
              <a:buFont typeface="Wingdings" panose="05000000000000000000" pitchFamily="2" charset="2"/>
              <a:buChar char="Ø"/>
            </a:pPr>
            <a:r>
              <a:rPr lang="en-US" dirty="0"/>
              <a:t>Use predictive analytics to forecast gym visits and member engagement</a:t>
            </a:r>
          </a:p>
          <a:p>
            <a:endParaRPr lang="en-IN" dirty="0"/>
          </a:p>
        </p:txBody>
      </p:sp>
    </p:spTree>
    <p:extLst>
      <p:ext uri="{BB962C8B-B14F-4D97-AF65-F5344CB8AC3E}">
        <p14:creationId xmlns:p14="http://schemas.microsoft.com/office/powerpoint/2010/main" val="4190784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10842-B009-E4F4-A963-AE4393E340CC}"/>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8C69E89B-D6BF-D2A4-240B-3C4AAB2B4D8B}"/>
              </a:ext>
            </a:extLst>
          </p:cNvPr>
          <p:cNvSpPr>
            <a:spLocks noGrp="1"/>
          </p:cNvSpPr>
          <p:nvPr>
            <p:ph idx="1"/>
          </p:nvPr>
        </p:nvSpPr>
        <p:spPr/>
        <p:txBody>
          <a:bodyPr/>
          <a:lstStyle/>
          <a:p>
            <a:r>
              <a:rPr lang="en-US" dirty="0"/>
              <a:t>This project successfully demonstrates how raw gym data can be transformed into meaningful and actionable insights using data visualization. The interactive dashboard provides a clear understanding of gym performance, member demographics, workout preferences, and attendance trends.</a:t>
            </a:r>
          </a:p>
          <a:p>
            <a:r>
              <a:rPr lang="en-US" dirty="0"/>
              <a:t>By leveraging Tableau Public, this project supports data-driven decision-making and highlights the importance of effective dashboard design and data storytelling in business analytics.</a:t>
            </a:r>
          </a:p>
          <a:p>
            <a:endParaRPr lang="en-IN" dirty="0"/>
          </a:p>
        </p:txBody>
      </p:sp>
    </p:spTree>
    <p:extLst>
      <p:ext uri="{BB962C8B-B14F-4D97-AF65-F5344CB8AC3E}">
        <p14:creationId xmlns:p14="http://schemas.microsoft.com/office/powerpoint/2010/main" val="4091188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B790-2F6E-B9AA-13BA-EFCD312E974B}"/>
              </a:ext>
            </a:extLst>
          </p:cNvPr>
          <p:cNvSpPr>
            <a:spLocks noGrp="1"/>
          </p:cNvSpPr>
          <p:nvPr>
            <p:ph type="title"/>
          </p:nvPr>
        </p:nvSpPr>
        <p:spPr>
          <a:xfrm>
            <a:off x="1824606" y="2481044"/>
            <a:ext cx="9601200" cy="1485900"/>
          </a:xfrm>
        </p:spPr>
        <p:txBody>
          <a:bodyPr/>
          <a:lstStyle/>
          <a:p>
            <a:pPr algn="ctr"/>
            <a:r>
              <a:rPr lang="en-US" b="1" dirty="0"/>
              <a:t>THANK YOU</a:t>
            </a:r>
            <a:endParaRPr lang="en-IN" b="1" dirty="0"/>
          </a:p>
        </p:txBody>
      </p:sp>
    </p:spTree>
    <p:extLst>
      <p:ext uri="{BB962C8B-B14F-4D97-AF65-F5344CB8AC3E}">
        <p14:creationId xmlns:p14="http://schemas.microsoft.com/office/powerpoint/2010/main" val="800900357"/>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{9BE82D15-8D0B-4076-B241-812302C39F2E}TFc3084226-2d0c-440f-9f46-6b48c7a7f670e6ba4a85-fc4a2881d6b3</Template>
  <TotalTime>26</TotalTime>
  <Words>365</Words>
  <Application>Microsoft Office PowerPoint</Application>
  <PresentationFormat>Widescreen</PresentationFormat>
  <Paragraphs>46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Franklin Gothic Book</vt:lpstr>
      <vt:lpstr>Wingdings</vt:lpstr>
      <vt:lpstr>Crop</vt:lpstr>
      <vt:lpstr>Gym Performance Dashboard</vt:lpstr>
      <vt:lpstr>Project Overview</vt:lpstr>
      <vt:lpstr>Tools &amp; Techniques </vt:lpstr>
      <vt:lpstr>Dataset Description</vt:lpstr>
      <vt:lpstr>Problem Statement</vt:lpstr>
      <vt:lpstr>Dashboard</vt:lpstr>
      <vt:lpstr>Using Filter</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sejalm057@gmail.com</dc:creator>
  <cp:lastModifiedBy>sejalm057@gmail.com</cp:lastModifiedBy>
  <cp:revision>1</cp:revision>
  <dcterms:created xsi:type="dcterms:W3CDTF">2026-01-31T17:44:34Z</dcterms:created>
  <dcterms:modified xsi:type="dcterms:W3CDTF">2026-01-31T18:10:51Z</dcterms:modified>
</cp:coreProperties>
</file>